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Barlow Condensed"/>
              </a:rPr>
              <a:t>MAINT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0" y="14630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3B82F6"/>
                </a:solidFill>
                <a:latin typeface="Barlow Condensed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94A3B8"/>
                </a:solidFill>
                <a:latin typeface="Barlow Condensed"/>
              </a:rPr>
              <a:t>La manutenzione industriale diventa intelligente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4160520"/>
            <a:ext cx="2926080" cy="365760"/>
          </a:xfrm>
          <a:prstGeom prst="ellipse">
            <a:avLst/>
          </a:prstGeom>
          <a:solidFill>
            <a:srgbClr val="0D1829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178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Barlow Condensed"/>
              </a:rPr>
              <a:t>Pianificazione AI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4160520"/>
            <a:ext cx="2926080" cy="365760"/>
          </a:xfrm>
          <a:prstGeom prst="ellipse">
            <a:avLst/>
          </a:prstGeom>
          <a:solidFill>
            <a:srgbClr val="0D18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4178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Barlow Condensed"/>
              </a:rPr>
              <a:t>Diagnostica guidata</a:t>
            </a:r>
          </a:p>
        </p:txBody>
      </p:sp>
      <p:sp>
        <p:nvSpPr>
          <p:cNvPr id="10" name="Oval 9"/>
          <p:cNvSpPr/>
          <p:nvPr/>
        </p:nvSpPr>
        <p:spPr>
          <a:xfrm>
            <a:off x="7498080" y="4160520"/>
            <a:ext cx="2926080" cy="365760"/>
          </a:xfrm>
          <a:prstGeom prst="ellipse">
            <a:avLst/>
          </a:prstGeom>
          <a:solidFill>
            <a:srgbClr val="0D18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4178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Barlow Condensed"/>
              </a:rPr>
              <a:t>Zero dispersione informativa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Barlow Condensed"/>
              </a:rPr>
              <a:t>Manifatturiero · Energia · Porti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B82F6"/>
                </a:solidFill>
                <a:latin typeface="Barlow Condensed"/>
              </a:rPr>
              <a:t>Il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Barlow Condensed"/>
              </a:rPr>
              <a:t>Ogni guasto imprevisto costa cara.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66160" cy="4480560"/>
          </a:xfrm>
          <a:prstGeom prst="rect">
            <a:avLst/>
          </a:prstGeom>
          <a:solidFill>
            <a:srgbClr val="0D1829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  <a:latin typeface="Barlow Condensed"/>
              </a:rPr>
              <a:t>💸  Costi nascosti dei fermi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146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Un fermo non pianificato costa 5–10× più di un intervento programmato:
perdita produzione, straordinari, ricambi urgenti.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8848" y="1828800"/>
            <a:ext cx="3566160" cy="4480560"/>
          </a:xfrm>
          <a:prstGeom prst="rect">
            <a:avLst/>
          </a:prstGeom>
          <a:solidFill>
            <a:srgbClr val="0D1829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Barlow Condensed"/>
              </a:rPr>
              <a:t>📋  Pianificazione ancora manuale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146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Fogli Excel, WhatsApp, chiamate.
Nessuna visibilità in tempo reale su chi fa cosa e quando.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57616" y="1828800"/>
            <a:ext cx="3566160" cy="4480560"/>
          </a:xfrm>
          <a:prstGeom prst="rect">
            <a:avLst/>
          </a:prstGeom>
          <a:solidFill>
            <a:srgbClr val="0D1829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1965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Barlow Condensed"/>
              </a:rPr>
              <a:t>📂  Informazioni disperse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25146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Manuali su carta, storico in testa ai tecnici anziani.
Nessuna tracciabilità per audit o certificazioni ISO.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B82F6"/>
                </a:solidFill>
                <a:latin typeface="Barlow Condensed"/>
              </a:rPr>
              <a:t>La Soluzione MaintAI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Barlow Condensed"/>
              </a:rPr>
              <a:t>Un'unica piattaforma. Tre superpoteri.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Barlow Condense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Barlow Condensed"/>
              </a:rPr>
              <a:t>Automatizza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Barlow Condensed"/>
              </a:rPr>
              <a:t>Legge i manuali PDF e genera il piano di manutenzione in secondi.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8848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9659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4D399"/>
                </a:solidFill>
                <a:latin typeface="Barlow Condense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651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Barlow Condensed"/>
              </a:rPr>
              <a:t>Pianifica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20040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Barlow Condensed"/>
              </a:rPr>
              <a:t>Assegna le attività ai tecnici rispettando skill, turni e priorità.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57616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19659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BBF24"/>
                </a:solidFill>
                <a:latin typeface="Barlow Condense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651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Barlow Condensed"/>
              </a:rPr>
              <a:t>Guida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320040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Barlow Condensed"/>
              </a:rPr>
              <a:t>Supporto AI step-by-step durante i guasti, con RCA documentata.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Barlow Condensed"/>
              </a:rPr>
              <a:t>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Barlow Condensed"/>
              </a:rPr>
              <a:t>PDF → Piano Manutenzione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Barlow Condensed"/>
              </a:rPr>
              <a:t>Prima: 2 giorni di lavoro. Dopo: 30 secondi.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212080" cy="4480560"/>
          </a:xfrm>
          <a:prstGeom prst="rect">
            <a:avLst/>
          </a:prstGeom>
          <a:solidFill>
            <a:srgbClr val="0D1829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Barlow Condensed"/>
              </a:rPr>
              <a:t>✗  PRIMA  (senza MaintAI)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Barlow Condensed"/>
              </a:rPr>
              <a:t>—  Lettura manuale a mano, trascrizione manuale.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Barlow Condensed"/>
              </a:rPr>
              <a:t>—  Rischio di dimenticare interventi critici.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Barlow Condensed"/>
              </a:rPr>
              <a:t>—  Nessun aggiornamento automatico a revisioni.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212080" cy="4480560"/>
          </a:xfrm>
          <a:prstGeom prst="rect">
            <a:avLst/>
          </a:prstGeom>
          <a:solidFill>
            <a:srgbClr val="0D1829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Barlow Condensed"/>
              </a:rPr>
              <a:t>✓  DOPO  (con MaintAI)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→  Carica il PDF → piano estratto automaticamente.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54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→  Interventi, periodicità e materiali già strutturati.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94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→  Aggiornamento automatico a ogni nuovo caricamento.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7490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B82F6"/>
                </a:solidFill>
                <a:latin typeface="Barlow Condensed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Barlow Condensed"/>
              </a:rPr>
              <a:t>FEATURE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Barlow Condensed"/>
              </a:rPr>
              <a:t>Scheduler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Barlow Condensed"/>
              </a:rPr>
              <a:t>Il pianificatore che non dimentica nulla.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881360" cy="1417320"/>
          </a:xfrm>
          <a:prstGeom prst="rect">
            <a:avLst/>
          </a:prstGeom>
          <a:solidFill>
            <a:srgbClr val="0D1829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Barlow Condensed"/>
              </a:rPr>
              <a:t>🎯  Vincoli tecnici e di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Ogni attività va al tecnico giusto per competenza, disponibilità e turno. Zero conflitti di assegnazione.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83280"/>
            <a:ext cx="10881360" cy="1417320"/>
          </a:xfrm>
          <a:prstGeom prst="rect">
            <a:avLst/>
          </a:prstGeom>
          <a:solidFill>
            <a:srgbClr val="0D1829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Barlow Condensed"/>
              </a:rPr>
              <a:t>📊  Vista Gantt giornaliera e settimanale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76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Visibilità immediata su chi è occupato quando. Navigazione per data, per tecnico, per asset.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937760"/>
            <a:ext cx="10881360" cy="1417320"/>
          </a:xfrm>
          <a:prstGeom prst="rect">
            <a:avLst/>
          </a:prstGeom>
          <a:solidFill>
            <a:srgbClr val="0D1829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Barlow Condensed"/>
              </a:rPr>
              <a:t>⚡  Ricalcolo automatico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321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Aggiungi un ticket urgente: lo scheduler ridistribuisce l'intero piano in pochi secondi.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Barlow Condensed"/>
              </a:rPr>
              <a:t>FEATURE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Barlow Condensed"/>
              </a:rPr>
              <a:t>Diagnostica Guidata 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Barlow Condensed"/>
              </a:rPr>
              <a:t>Il tecnico non è mai solo davanti a un guasto.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BBF24"/>
                </a:solidFill>
                <a:latin typeface="Barlow Condense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Barlow Condensed"/>
              </a:rPr>
              <a:t>Sessione interattiva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Barlow Condensed"/>
              </a:rPr>
              <a:t>Domande guidate per isolare la causa radice. Funziona anche per guasti mai visti prima.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96596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B82F6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Barlow Condensed"/>
              </a:rPr>
              <a:t>Root Cause Analysis documentata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29184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Barlow Condensed"/>
              </a:rPr>
              <a:t>Ogni sessione produce un report strutturato (sintomi → ipotesi → conclusione) per audit.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57616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0496" y="196596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4D399"/>
                </a:solidFill>
                <a:latin typeface="Barlow Condense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Barlow Condensed"/>
              </a:rPr>
              <a:t>Ticket correttivo automatico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29184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Barlow Condensed"/>
              </a:rPr>
              <a:t>A diagnosi completata, MaintAI genera il ticket di riparazione assegnato al tecnico giusto.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B82F6"/>
                </a:solidFill>
                <a:latin typeface="Barlow Condensed"/>
              </a:rPr>
              <a:t>ROI Atteso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Barlow Condensed"/>
              </a:rPr>
              <a:t>Numeri concreti per giustificare l'investimento.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87171"/>
                </a:solidFill>
                <a:latin typeface="Barlow Condensed"/>
              </a:rPr>
              <a:t>−30–50%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Guasti imprevisti nel primo anno grazie alla manutenzione preventiva sistematizzata.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8848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011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4D399"/>
                </a:solidFill>
                <a:latin typeface="Barlow Condensed"/>
              </a:rPr>
              <a:t>+20%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10896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Efficienza tecnici: meno tempo a cercare informazioni, più tempo wrench-in-hand.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57616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2011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B82F6"/>
                </a:solidFill>
                <a:latin typeface="Barlow Condensed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310896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Tracciabilità: ogni intervento registrato, ogni decisione documentata. Audit senza stress.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B82F6"/>
                </a:solidFill>
                <a:latin typeface="Barlow Condensed"/>
              </a:rPr>
              <a:t>Chi È MaintAI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Barlow Condensed"/>
              </a:rPr>
              <a:t>Costruito per chi fa manutenzione seria.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4480560"/>
          </a:xfrm>
          <a:prstGeom prst="rect">
            <a:avLst/>
          </a:prstGeom>
          <a:solidFill>
            <a:srgbClr val="0D1829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Barlow Condensed"/>
              </a:rPr>
              <a:t>Settori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🏭  Manifatturiero (automotive, food, pharma)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⚡  Energia (centrali, rinnovabili, oil &amp; gas)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🚢  Porti container e bulk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212080" cy="4480560"/>
          </a:xfrm>
          <a:prstGeom prst="rect">
            <a:avLst/>
          </a:prstGeom>
          <a:solidFill>
            <a:srgbClr val="0D1829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Barlow Condensed"/>
              </a:rPr>
              <a:t>Ruoli utenti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👔  Responsabile / Planner
Visione globale, KPI in tempo reale, pianificazione strategica.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9319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🔧  Tecnico sul campo
Riceve il piano, usa la diagnostica AI, chiude i ticket in mobilità.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B82F6"/>
                </a:solidFill>
                <a:latin typeface="Barlow Condensed"/>
              </a:rPr>
              <a:t>Piani e Prezzi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Barlow Condensed"/>
              </a:rPr>
              <a:t>Su misura per ogni realtà industriale.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94A3B8"/>
                </a:solidFill>
                <a:latin typeface="Barlow Condensed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Barlow Condensed"/>
              </a:rPr>
              <a:t>PMI, fino a 5 tecnici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Barlow Condensed"/>
              </a:rPr>
              <a:t>Da definire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8848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011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B82F6"/>
                </a:solidFill>
                <a:latin typeface="Barlow Condensed"/>
              </a:rPr>
              <a:t>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6974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Barlow Condensed"/>
              </a:rPr>
              <a:t>5–20 tecnici, multi-impianto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3832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Barlow Condensed"/>
              </a:rPr>
              <a:t>Da definire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57616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2011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BBF24"/>
                </a:solidFill>
                <a:latin typeface="Barlow Condensed"/>
              </a:rP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6974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Barlow Condensed"/>
              </a:rPr>
              <a:t>Grandi impianti, API custom, SLA garantito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33832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Barlow Condensed"/>
              </a:rPr>
              <a:t>Su preventivo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Barlow Condensed"/>
              </a:rPr>
              <a:t>Tutti i piani includono onboarding, formazione e supporto dedicato nel primo mese.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B82F6"/>
                </a:solidFill>
                <a:latin typeface="Barlow Condensed"/>
              </a:rPr>
              <a:t>Prossimi Passi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Barlow Condensed"/>
              </a:rPr>
              <a:t>Pronti a partire in 48 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  <a:latin typeface="Barlow Condensed"/>
              </a:rPr>
              <a:t>🎯  Demo gratuita (45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Mostriamo MaintAI sul tuo caso d'uso reale,
con i tuoi asset e i tuoi manuali.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8848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011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  <a:latin typeface="Barlow Condensed"/>
              </a:rPr>
              <a:t>🚀  Pilot 3 mesi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74320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Accesso completo, supporto dedicato,
KPI misurati insieme a fine periodo.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57616" y="1828800"/>
            <a:ext cx="3566160" cy="4572000"/>
          </a:xfrm>
          <a:prstGeom prst="rect">
            <a:avLst/>
          </a:prstGeom>
          <a:solidFill>
            <a:srgbClr val="0D1829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2011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  <a:latin typeface="Barlow Condensed"/>
              </a:rPr>
              <a:t>📞  Contatti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274320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[inserire email]
[inserire telefono / Calendly]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Barlow Condensed"/>
              </a:rPr>
              <a:t>APPENDICE — OBIEZIONI FREQUENTI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Barlow Condensed"/>
              </a:rPr>
              <a:t>Le Domande Difficili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Barlow Condensed"/>
              </a:rPr>
              <a:t>Risposte dirette ai clienti scettici.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881360" cy="1417320"/>
          </a:xfrm>
          <a:prstGeom prst="rect">
            <a:avLst/>
          </a:prstGeom>
          <a:solidFill>
            <a:srgbClr val="0D1829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Barlow Condensed"/>
              </a:rPr>
              <a:t>«Abbiamo già un ERP/CMMS.»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rlow Condensed"/>
              </a:rPr>
              <a:t>MaintAI non sostituisce l'ERP — si affianca. Lavora dove l'ERP è cieco: pianificazione AI, diagnostica, lettura manuali. Integrazione API nei piani Professional ed Enterprise.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28999"/>
            <a:ext cx="10881360" cy="1417320"/>
          </a:xfrm>
          <a:prstGeom prst="rect">
            <a:avLst/>
          </a:prstGeom>
          <a:solidFill>
            <a:srgbClr val="0D1829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Barlow Condensed"/>
              </a:rPr>
              <a:t>«I tecnici non useranno mai un'app.»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rlow Condensed"/>
              </a:rPr>
              <a:t>L'interfaccia è essenziale, funziona da tablet e telefono. Il 90% dei tecnici adotta lo strumento entro due settimane se il responsabile lo usa come riferimento ufficiale.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983479"/>
            <a:ext cx="10881360" cy="1417320"/>
          </a:xfrm>
          <a:prstGeom prst="rect">
            <a:avLst/>
          </a:prstGeom>
          <a:solidFill>
            <a:srgbClr val="0D1829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04748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Barlow Condensed"/>
              </a:rPr>
              <a:t>«I nostri dati sono sensibili.»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rlow Condensed"/>
              </a:rPr>
              <a:t>Deploy on-premise disponibile: il database rimane nella vostra rete. Nessun dato esce. Per Enterprise: versione air-gapped.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Barlow Condensed"/>
              </a:rPr>
              <a:t>APPENDICE — OBIEZIONI FREQUENTI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Barlow Condensed"/>
              </a:rPr>
              <a:t>Le Domande Difficili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Barlow Condensed"/>
              </a:rPr>
              <a:t>Risposte dirette ai clienti scettici.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190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881360" cy="1828800"/>
          </a:xfrm>
          <a:prstGeom prst="rect">
            <a:avLst/>
          </a:prstGeom>
          <a:solidFill>
            <a:srgbClr val="0D1829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Barlow Condensed"/>
              </a:rPr>
              <a:t>«Abbiamo provato soluzioni simili e non hanno mai funzionato.»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MaintAI è stato costruito con responsabili manutenzione reali, in settori specifici — non è una piattaforma generica adattata. Il pilot da 3 mesi esiste per dimostrarlo: se i KPI non migliorano, non pagate la subscription annuale.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86199"/>
            <a:ext cx="10881360" cy="1828800"/>
          </a:xfrm>
          <a:prstGeom prst="rect">
            <a:avLst/>
          </a:prstGeom>
          <a:solidFill>
            <a:srgbClr val="0D1829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5020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Barlow Condensed"/>
              </a:rPr>
              <a:t>«Quanto tempo richiede l'implementazione?»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Onboarding base: 2–3 giorni lavorativi. Importazione asset, caricamento manuali, configurazione tecnici. Nessuna competenza IT avanzata. Il team MaintAI gestisce l'intero setup on-site o in videochiamata.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